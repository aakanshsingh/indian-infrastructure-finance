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F4A261">
              <a:alpha val="70000"/>
            </a:srgbClr>
          </a:solidFill>
          <a:ln w="12700">
            <a:solidFill>
              <a:srgbClr val="F4A261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57200"/>
            <a:ext cx="7955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Market Segmentation, Return</a:t>
            </a:r>
            <a:endParaRPr lang="en-US" sz="2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Predictability, and Portfolio</a:t>
            </a:r>
            <a:endParaRPr lang="en-US" sz="2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Optimisation of Indian InvITs &amp; REITs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260604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E86AB"/>
                </a:solidFill>
              </a:rPr>
              <a:t>A Four-Phase Empirical Study using GJR-GARCH, DCC-GARCH, Diebold-Yilmaz Spillovers,</a:t>
            </a:r>
            <a:endParaRPr lang="en-US" sz="1150" dirty="0"/>
          </a:p>
          <a:p>
            <a:pPr algn="l" indent="0" marL="0">
              <a:buNone/>
            </a:pPr>
            <a:r>
              <a:rPr lang="en-US" sz="1150" i="1" dirty="0">
                <a:solidFill>
                  <a:srgbClr val="2E86AB"/>
                </a:solidFill>
              </a:rPr>
              <a:t>Bayesian Machine Learning, and Walk-Forward Portfolio Optimisation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3401568"/>
            <a:ext cx="7955280" cy="22860"/>
          </a:xfrm>
          <a:prstGeom prst="rect">
            <a:avLst/>
          </a:prstGeom>
          <a:solidFill>
            <a:srgbClr val="2E86AB">
              <a:alpha val="60000"/>
            </a:srgbClr>
          </a:solidFill>
          <a:ln w="12700">
            <a:solidFill>
              <a:srgbClr val="2E86AB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493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MTP2 Dissertation  |  </a:t>
            </a:r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IIT Kharagpur — B.Tech Civil + MFE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840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B4C8"/>
                </a:solidFill>
              </a:rPr>
              <a:t>Data: 27 Jul 2020 – 1 Mar 2026  |  29 Tickers, 5 Portfolios, 1,023 Daily Observations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 / 28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Presentation Outline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868680"/>
            <a:ext cx="329184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68680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778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Motivation &amp; Research Gap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08813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Why Indian InvITs and REITs?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472184"/>
            <a:ext cx="329184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72184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4813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Data &amp; Portfolio Construction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6916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29 tickers, 5 category portfolios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075688"/>
            <a:ext cx="329184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075688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08483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Phase 1 — Volatility &amp; Spillovers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2951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GJR-GARCH · DCC · Diebold-Yilmaz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679192"/>
            <a:ext cx="329184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679192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68833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Phase 2 — Factor Structure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89864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OLS-HAC · Shapley · Panel Tests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282696"/>
            <a:ext cx="329184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82696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2918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Phase 3 — ML Prediction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5021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BayesRidge with hierarchical priors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3886200"/>
            <a:ext cx="329184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886200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89534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Phase 4B — Portfolio Results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10565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MVO_Raw · GK ablation · Bootstrap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4489704"/>
            <a:ext cx="329184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489704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44988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Implications &amp; Conclusion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470916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Managerial takeaways · Future work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 / 28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Motivation — A Growing Asset Class Without a Research Baseline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41248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</a:rPr>
              <a:t>India's first InvIT listed in 2017; first REIT in 2019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</a:rPr>
              <a:t>5 listed InvITs + 3 REITs as of 2026 — ₹1.5 lakh crore AUM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</a:rPr>
              <a:t>NSE's Nifty REITs &amp; InvITs Index launched 2023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</a:rPr>
              <a:t>No published study on their volatility dynamics, segmentation, or predictability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</a:rPr>
              <a:t>International REIT literature covers US, Japan, Singapore, Australia — NOT India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60720" y="868680"/>
            <a:ext cx="3017520" cy="822960"/>
          </a:xfrm>
          <a:prstGeom prst="rect">
            <a:avLst/>
          </a:prstGeom>
          <a:solidFill>
            <a:srgbClr val="2E86AB">
              <a:alpha val="12000"/>
            </a:srgbClr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33872" y="941832"/>
            <a:ext cx="28712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6AB"/>
                </a:solidFill>
              </a:rPr>
              <a:t>₹1.5L Cr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833872" y="1321308"/>
            <a:ext cx="2871216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Aggregate Listed AUM (2026)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0" y="1783080"/>
            <a:ext cx="3017520" cy="822960"/>
          </a:xfrm>
          <a:prstGeom prst="rect">
            <a:avLst/>
          </a:prstGeom>
          <a:solidFill>
            <a:srgbClr val="B22222">
              <a:alpha val="12000"/>
            </a:srgbClr>
          </a:solidFill>
          <a:ln w="19050">
            <a:solidFill>
              <a:srgbClr val="B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856232"/>
            <a:ext cx="28712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22222"/>
                </a:solidFill>
              </a:rPr>
              <a:t>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833872" y="2235708"/>
            <a:ext cx="2871216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Prior academic studies on India InvIT dynamics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0" y="2697480"/>
            <a:ext cx="3017520" cy="822960"/>
          </a:xfrm>
          <a:prstGeom prst="rect">
            <a:avLst/>
          </a:prstGeom>
          <a:solidFill>
            <a:srgbClr val="1E3A5F">
              <a:alpha val="12000"/>
            </a:srgbClr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2770632"/>
            <a:ext cx="28712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1,023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833872" y="3150108"/>
            <a:ext cx="2871216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Daily observations in sample window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3886200"/>
            <a:ext cx="8412480" cy="77724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</a:rPr>
              <a:t>Research Question: Are Indian InvITs and REITs segmented from global markets, and can returns be predicted and exploited?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3 / 28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Data &amp; Portfolio Construction — 29 Tickers, 5 Category Portfolios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41248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1097280"/>
                <a:gridCol w="1097280"/>
                <a:gridCol w="7315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Portfolio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Constituents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Daily Mean%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Daily Vol%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Ann. Return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India_InvIT (N=3)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IRB InvIT, IndiGrid, PowerGrid InvIT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0.028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0.828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~7.0%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India_REIT (N=3)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Embassy, Mindspace, Brookfield REIT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0.060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0.757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~15.0%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India_Stock (N=5)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IRB, L&amp;T, Adani Ports, NTPC, PowerGrid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0.098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1.458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~24.5%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US_Infra (N=10)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AMT, CCI, EQIX, DLR, EPD, NEE…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0.046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1.061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~11.5%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Europe_Infra (N=5)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Ferrovial, Nat. Grid, Engie, RWE, Cellnex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0.069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1.036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~17.3%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84048" y="4206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All returns: daily log-returns r_t = ln(P_t / P_{t-1}) · Equal-weighted within category · Source: Yahoo Finance + Investing.com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4 / 28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Four-Phase Empirical Framework — Each Phase Feeds the Next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841248"/>
            <a:ext cx="841248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3840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Phase 1 Output: 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84048" y="40050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Segmentation confirmed → global model will NOT work → motivates Phase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2532888" y="3840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Phase 2 Output: 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532888" y="40050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Domestic factor coefficients → become hierarchical Bayesian priors in Phase 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681728" y="3840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Phase 3 Output: 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81728" y="40050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Panel IC = 0.254, GKX R² = 12% → raw predictions feed Phase 4B optimiser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830568" y="3840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Phase 4B Output: 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30568" y="40050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MVO_Raw Sharpe 1.87 → GK ablation confirms priors add value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5 / 28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82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E86AB"/>
                </a:solidFill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377440" y="731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Phase 1 — Volatility Dynamics &amp; Global Spillovers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377440" y="2331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E86AB"/>
                </a:solidFill>
              </a:rPr>
              <a:t>GJR-GARCH(1,1)  ·  DCC-GARCH  ·  Diebold-Yilmaz Generalised FEVD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6 / 28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Phase 1 — GJR-GARCH(1,1): Leverage Effects &amp; Persistence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41248"/>
          <a:ext cx="8412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097280"/>
                <a:gridCol w="1097280"/>
                <a:gridCol w="777240"/>
                <a:gridCol w="777240"/>
                <a:gridCol w="192024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Portfolio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α (ARCH)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β (GARCH)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γ (Leverage)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p(γ)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α + β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Half-Life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India_InvIT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0.966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0.496**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−0.924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0.045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1.46 ⚠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&gt;100 d (non-stat)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India_REIT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0.076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0.272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0.186*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0.069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0.35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0.66 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India_Stock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0.176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0.403**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0.277**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0.037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0.58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1.27 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US_Infra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0.017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0.924**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0.069**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0.037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0.94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11.3 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Europe_Infra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0.128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0.564**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0.181**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0.030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0.69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1.89 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84048" y="3822192"/>
            <a:ext cx="2651760" cy="914400"/>
          </a:xfrm>
          <a:prstGeom prst="rect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85876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</a:rPr>
              <a:t>No Leverage Effect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InvIT &amp; REIT: γ not significant at 5% — pass-through structure insulates from classical equity leverage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191256" y="3822192"/>
            <a:ext cx="2651760" cy="914400"/>
          </a:xfrm>
          <a:prstGeom prst="rect">
            <a:avLst/>
          </a:prstGeom>
          <a:solidFill>
            <a:srgbClr val="2E8B57">
              <a:alpha val="12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64408" y="385876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</a:rPr>
              <a:t>Leverage Present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64408" y="4114800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Stock, US_Infra, Europe_Infra: γ significant at 5% — negative shocks raise variance more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98464" y="3822192"/>
            <a:ext cx="2651760" cy="914400"/>
          </a:xfrm>
          <a:prstGeom prst="rect">
            <a:avLst/>
          </a:prstGeom>
          <a:solidFill>
            <a:srgbClr val="B22222">
              <a:alpha val="12000"/>
            </a:srgbClr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71616" y="385876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2222"/>
                </a:solidFill>
              </a:rPr>
              <a:t>InvIT Non-Stationary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71616" y="4114800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α+β = 1.46 violates stationarity → refit GARCH(1,1) → EWMA(20) fallback for DCC inputs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7 / 28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Phase 1 — Dynamic Conditional Correlations with Foreign Markets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822960"/>
            <a:ext cx="539496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868680"/>
            <a:ext cx="2788920" cy="868680"/>
          </a:xfrm>
          <a:prstGeom prst="rect">
            <a:avLst/>
          </a:prstGeom>
          <a:solidFill>
            <a:srgbClr val="2E86AB">
              <a:alpha val="12000"/>
            </a:srgbClr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62472" y="941832"/>
            <a:ext cx="2642616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6AB"/>
                </a:solidFill>
              </a:rPr>
              <a:t>0.039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062472" y="1346454"/>
            <a:ext cx="2642616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InvIT–US mean DCC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(lowest in system)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89320" y="1874520"/>
            <a:ext cx="2788920" cy="868680"/>
          </a:xfrm>
          <a:prstGeom prst="rect">
            <a:avLst/>
          </a:prstGeom>
          <a:solidFill>
            <a:srgbClr val="B22222">
              <a:alpha val="12000"/>
            </a:srgbClr>
          </a:solidFill>
          <a:ln w="19050">
            <a:solidFill>
              <a:srgbClr val="B222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62472" y="1947672"/>
            <a:ext cx="2642616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22222"/>
                </a:solidFill>
              </a:rPr>
              <a:t>0.370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062472" y="2352294"/>
            <a:ext cx="2642616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US–Europe mean DCC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(10× higher)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89320" y="2880360"/>
            <a:ext cx="2788920" cy="868680"/>
          </a:xfrm>
          <a:prstGeom prst="rect">
            <a:avLst/>
          </a:prstGeom>
          <a:solidFill>
            <a:srgbClr val="1E3A5F">
              <a:alpha val="12000"/>
            </a:srgbClr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62472" y="2953512"/>
            <a:ext cx="2642616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0.124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062472" y="3358134"/>
            <a:ext cx="2642616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Stock–US mean DCC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(3× InvIT)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84048" y="3931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⟶  Low and stable correlations confirm descriptive segmentation — formal FEVD test follows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8 / 28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Phase 1 — Generalised FEVD Matrix (10-Day Horizon, VAR(1))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804672"/>
            <a:ext cx="594360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868680"/>
            <a:ext cx="246888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28816" y="896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95.85%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28816" y="11521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InvIT own-variance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92240" y="1554480"/>
            <a:ext cx="246888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28816" y="1581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93.06%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28816" y="18379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REIT own-variance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92240" y="2240280"/>
            <a:ext cx="246888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28816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90.39%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28816" y="25237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Stock own-variance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92240" y="2926080"/>
            <a:ext cx="246888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28816" y="2953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84.65%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28816" y="32095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US own-variance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92240" y="3611880"/>
            <a:ext cx="246888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28816" y="3639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10.71%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28816" y="38953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Total spillover index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9 / 28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Phase 1 — Key Finding: Indian InvITs Receive &lt; 0.35% from Foreign Shocks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822960"/>
            <a:ext cx="484632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94960" y="868680"/>
            <a:ext cx="3383280" cy="749808"/>
          </a:xfrm>
          <a:prstGeom prst="rect">
            <a:avLst/>
          </a:prstGeom>
          <a:solidFill>
            <a:srgbClr val="2E86AB">
              <a:alpha val="12000"/>
            </a:srgbClr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68112" y="941832"/>
            <a:ext cx="3236976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6AB"/>
                </a:solidFill>
              </a:rPr>
              <a:t>0.34%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68112" y="1281074"/>
            <a:ext cx="3236976" cy="31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Foreign spillover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to InvIT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394960" y="1691640"/>
            <a:ext cx="3383280" cy="749808"/>
          </a:xfrm>
          <a:prstGeom prst="rect">
            <a:avLst/>
          </a:prstGeom>
          <a:solidFill>
            <a:srgbClr val="1E3A5F">
              <a:alpha val="12000"/>
            </a:srgbClr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68112" y="1764792"/>
            <a:ext cx="3236976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1.28%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468112" y="2104034"/>
            <a:ext cx="3236976" cy="31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Foreign spillover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to REIT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394960" y="2514600"/>
            <a:ext cx="3383280" cy="749808"/>
          </a:xfrm>
          <a:prstGeom prst="rect">
            <a:avLst/>
          </a:prstGeom>
          <a:solidFill>
            <a:srgbClr val="F4A261">
              <a:alpha val="12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68112" y="2587752"/>
            <a:ext cx="3236976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</a:rPr>
              <a:t>2.49%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468112" y="2926994"/>
            <a:ext cx="3236976" cy="31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Foreign spillover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to Stock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94960" y="3337560"/>
            <a:ext cx="3383280" cy="749808"/>
          </a:xfrm>
          <a:prstGeom prst="rect">
            <a:avLst/>
          </a:prstGeom>
          <a:solidFill>
            <a:srgbClr val="B22222">
              <a:alpha val="12000"/>
            </a:srgbClr>
          </a:solidFill>
          <a:ln w="19050">
            <a:solidFill>
              <a:srgbClr val="B2222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68112" y="3410712"/>
            <a:ext cx="3236976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22222"/>
                </a:solidFill>
              </a:rPr>
              <a:t>58–65%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468112" y="3749954"/>
            <a:ext cx="3236976" cy="31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Developed-market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REIT average (DY 2021)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84048" y="3822192"/>
            <a:ext cx="8412480" cy="658368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lIns="63500" tIns="101600" rIns="101600" bIns="635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Interpretation: Indian InvITs and REITs are more than 97% domestically driven — an order of magnitude more segmented than developed-market REIT cohorts.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10 / 28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82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E86AB"/>
                </a:solidFill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377440" y="731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Phase 2 — Domestic Factor 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377440" y="2331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E86AB"/>
                </a:solidFill>
              </a:rPr>
              <a:t>OLS-HAC  ·  Shapley R² Decomposition  ·  Pooled Panel  ·  Monthly Lagged Priors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11 / 28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Phase 2 — Three-Tier Factor Intensity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822960"/>
            <a:ext cx="557784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868680"/>
            <a:ext cx="2788920" cy="1005840"/>
          </a:xfrm>
          <a:prstGeom prst="rect">
            <a:avLst/>
          </a:prstGeom>
          <a:solidFill>
            <a:srgbClr val="F4A261">
              <a:alpha val="12000"/>
            </a:srgbClr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44768" y="8961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Tier 1 — Stock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44768" y="1143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Kitchen-sink adj. R² = 67.8%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44768" y="13898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NiftyInfra dominates (Shapley: 42.9pp)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080760" y="1965960"/>
            <a:ext cx="2788920" cy="1005840"/>
          </a:xfrm>
          <a:prstGeom prst="rect">
            <a:avLst/>
          </a:prstGeom>
          <a:solidFill>
            <a:srgbClr val="2E86AB">
              <a:alpha val="12000"/>
            </a:srgbClr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44768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</a:rPr>
              <a:t>Tier 2 — REIT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144768" y="2240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Kitchen-sink adj. R² = 6.5%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44768" y="24871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Nifty50 &amp; INR/USD significant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080760" y="3063240"/>
            <a:ext cx="2788920" cy="1005840"/>
          </a:xfrm>
          <a:prstGeom prst="rect">
            <a:avLst/>
          </a:prstGeom>
          <a:solidFill>
            <a:srgbClr val="9467BD">
              <a:alpha val="12000"/>
            </a:srgbClr>
          </a:solidFill>
          <a:ln w="15240">
            <a:solidFill>
              <a:srgbClr val="9467B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4768" y="30906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7BD"/>
                </a:solidFill>
              </a:rPr>
              <a:t>Tier 3 — InvIT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44768" y="3337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Kitchen-sink adj. R² = 8.1%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44768" y="35844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Only Amihud adds meaningful fit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84048" y="395020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Monthly lagged factors reveal delayed price discovery: InvIT lagged-only R² = 10.8% — this motivates the Phase 3 monthly panel design.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12 / 28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Phase 2 — Factor Loadings &amp; Cross-Category Interaction Tests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22960"/>
          <a:ext cx="5303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234440"/>
                <a:gridCol w="1234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InvIT β (t)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REIT β (t)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Stock β (t)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Nifty50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0.040 (0.49)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0.146 (2.34)**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1.228 (13.37)***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Yield_10Y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−0.016 (−0.87)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0.022 (1.51)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0.059 (2.16)**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INR_USD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−0.056 (−0.51)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−0.376 (−2.02)**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−0.259 (−0.98)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Oil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−0.000 (−0.01)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−0.005 (−0.25)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−0.016 (−0.47)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Adj R²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−0.8%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4.2%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45.7%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806440" y="822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Cross-Category Interaction Tests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(Stock = base, pooled panel, clustered SEs)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806440" y="1417320"/>
            <a:ext cx="301752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70448" y="1444752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Nifty50 × InvIT  −1.198***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70448" y="1700784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InvIT beta 1.2 units BELOW Stock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06440" y="2286000"/>
            <a:ext cx="301752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70448" y="2313432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Nifty50 × REIT  −1.082***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70448" y="2569464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REIT beta 1.1 units below Stock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06440" y="3154680"/>
            <a:ext cx="301752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70448" y="3182112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Yield × InvIT  −0.075**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870448" y="3438144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InvIT more rate-sensitive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84048" y="3858768"/>
            <a:ext cx="8412480" cy="685800"/>
          </a:xfrm>
          <a:prstGeom prst="rect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895344"/>
            <a:ext cx="8275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Competing-Asset Channel: de-meaned yield level significantly negative for InvIT (β=−0.007, p=0.026) and REIT (β=−0.005, p=0.016) — when yield &gt; long-run mean, investors switch from yield vehicles to bonds.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13 / 28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Phase 2 → Phase 3 Bridge — Monthly Lagged Coefficients Become Priors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Phase 2 monthly lagged-only regression identifies the Bayesian priors for Phase 3 BayesRidge: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07008"/>
          <a:ext cx="8412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097280"/>
                <a:gridCol w="1097280"/>
                <a:gridCol w="338328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InvIT Prior β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REIT Prior β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Stock Prior β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Nifty50_lag1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+0.234**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+0.263**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+0.441**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Momentum channel; significant all categories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INR_USD_lag1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+0.563*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−0.223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−0.603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Sign flip: InvIT and Stock react oppositely to FX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Yield_10Y_lag1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−0.106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+0.089**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+0.102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Rate sensitivity differs by category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Amihud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−0.484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Only InvIT exhibits illiquidity premium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Adj R²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10.8%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6.8%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5.5%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Monthly &gt; weekly — delayed price discovery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84048" y="3931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These coefficients are verbatim Phase 3 CATEGORY_PRIORS — blend weight λ selected by LOOCV at each OOS step.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14 / 28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82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E86AB"/>
                </a:solidFill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377440" y="731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Phase 3 — Bayesian ML Return Prediction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377440" y="2331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E86AB"/>
                </a:solidFill>
              </a:rPr>
              <a:t>BayesRidge + Hierarchical Phase 2 Priors  ·  LOOCV Blend Weight  ·  27-Month Walk-Forward OOS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15 / 28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Phase 3 — Hierarchical BayesRidge Design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868680"/>
            <a:ext cx="4572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68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8869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Panel Construction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11247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3 cats × 57 months = 171 obs  |  9 features incl. category dummies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627632"/>
            <a:ext cx="4572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276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6459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Walk-Forward OOS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18836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Train = 30 months expanding  ·  OOS = 27 months (Dec 2023 – Feb 2026)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386584"/>
            <a:ext cx="4572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38658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404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Prior Blending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26426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β̃_c = (1 – λ) · β̂_BR  +  λ · β̃^prior_c  per category 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3145536"/>
            <a:ext cx="4572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1455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1638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LOOCV λ Selection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34015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Grid {0.0, 0.1, 0.2, 0.3, 0.5, 0.7}  ·  mean selected = 0.207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904488"/>
            <a:ext cx="4572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9044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9227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Evaluation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0120" y="4160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GKX R², Campbell-Thompson R², IC, PT directional test, SHAP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20640" y="841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7 Models Compared: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1143000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HistMean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20640" y="1609344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OLS_HAC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20640" y="2075688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Ridge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20640" y="2542032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LASSO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20640" y="3008376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ENet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20640" y="3474720"/>
            <a:ext cx="3657600" cy="365760"/>
          </a:xfrm>
          <a:prstGeom prst="rect">
            <a:avLst/>
          </a:prstGeom>
          <a:solidFill>
            <a:srgbClr val="2E86AB">
              <a:alpha val="18000"/>
            </a:srgbClr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★ BayesRidge (PRIMARY)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20640" y="3941064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TL_ENet (transfer)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16 / 28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Phase 3 — Out-of-Sample Results: BayesRidge Dominates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804672"/>
            <a:ext cx="548640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868680"/>
            <a:ext cx="2743200" cy="877824"/>
          </a:xfrm>
          <a:prstGeom prst="rect">
            <a:avLst/>
          </a:prstGeom>
          <a:solidFill>
            <a:srgbClr val="1E3A5F">
              <a:alpha val="12000"/>
            </a:srgbClr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53912" y="941832"/>
            <a:ext cx="2596896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+12.09%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153912" y="1351483"/>
            <a:ext cx="2596896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BayesRidge Panel GKX R²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(highest among all models)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80760" y="1874520"/>
            <a:ext cx="2743200" cy="877824"/>
          </a:xfrm>
          <a:prstGeom prst="rect">
            <a:avLst/>
          </a:prstGeom>
          <a:solidFill>
            <a:srgbClr val="2E86AB">
              <a:alpha val="12000"/>
            </a:srgbClr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3912" y="1947672"/>
            <a:ext cx="2596896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6AB"/>
                </a:solidFill>
              </a:rPr>
              <a:t>+0.91%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153912" y="2357323"/>
            <a:ext cx="2596896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Panel Campbell-Thompson R²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(only model beating hist. mean)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80760" y="2880360"/>
            <a:ext cx="2743200" cy="877824"/>
          </a:xfrm>
          <a:prstGeom prst="rect">
            <a:avLst/>
          </a:prstGeom>
          <a:solidFill>
            <a:srgbClr val="2E8B57">
              <a:alpha val="12000"/>
            </a:srgbClr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53912" y="2953512"/>
            <a:ext cx="2596896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</a:rPr>
              <a:t>+40.05%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153912" y="3363163"/>
            <a:ext cx="2596896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REIT GKX R²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(vs +5.01% Leow &amp; Lindenthal 2025)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84048" y="38587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Note: LASSO/ENet strong for InvIT/REIT but negative R² for Stock → BayesRidge alone achieves positive panel R² across all three categories.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17 / 28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Phase 3 — IC and Directional Accuracy Diagnostics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22960"/>
          <a:ext cx="5212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60120"/>
                <a:gridCol w="960120"/>
                <a:gridCol w="960120"/>
                <a:gridCol w="960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InvIT IC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REIT IC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Stock IC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Panel IC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HistMean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−0.145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−0.192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−0.034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−0.026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OLS_HAC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−0.359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−0.017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−0.223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−0.202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LASSO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+0.361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+0.234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−0.176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+0.052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BayesRidge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+0.385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+0.360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+0.119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+0.254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715000" y="822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2222"/>
                </a:solidFill>
              </a:rPr>
              <a:t>Directional Accuracy Warning: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0" y="1234440"/>
            <a:ext cx="3154680" cy="365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REIT DA = 85%  →  Looks impressive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15000" y="1673352"/>
            <a:ext cx="3154680" cy="365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Naive DA = 81%  →  22/27 months were UP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5000" y="2112264"/>
            <a:ext cx="3154680" cy="365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2222"/>
                </a:solidFill>
              </a:rPr>
              <a:t>PT test p &gt; 0.24  →  No genuine skill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15000" y="2551176"/>
            <a:ext cx="3154680" cy="365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Up/Down split: 100% up, 0% down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15000" y="2990088"/>
            <a:ext cx="3154680" cy="365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Correct metric = IC, not DA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4048" y="3364992"/>
            <a:ext cx="8412480" cy="777240"/>
          </a:xfrm>
          <a:prstGeom prst="rect">
            <a:avLst/>
          </a:prstGeom>
          <a:solidFill>
            <a:srgbClr val="1E3A5F">
              <a:alpha val="1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401568"/>
            <a:ext cx="8275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Panel IC = +0.254 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  ⟶  2.5× the Grinold-Kahn useful-skill threshold of 0.10  |  </a:t>
            </a:r>
            <a:pPr indent="0" marL="0">
              <a:buNone/>
            </a:pPr>
            <a:r>
              <a:rPr lang="en-US" sz="1150" b="1" dirty="0">
                <a:solidFill>
                  <a:srgbClr val="2E86AB"/>
                </a:solidFill>
              </a:rPr>
              <a:t>BayesRidge LOOCV blend weight mean = 0.207 (always &gt; 0 — priors always help)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18 / 28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Phase 3 — SHAP Feature Importance (Full-Sample Refit)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804672"/>
            <a:ext cx="5577840" cy="3063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868680"/>
            <a:ext cx="2743200" cy="960120"/>
          </a:xfrm>
          <a:prstGeom prst="rect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44768" y="89611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</a:rPr>
              <a:t>Nifty50_lag1 (22.6%)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44768" y="1161288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Delayed market momentum — consistent with Phase 2 significance across all categories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6080760" y="1920240"/>
            <a:ext cx="2743200" cy="960120"/>
          </a:xfrm>
          <a:prstGeom prst="rect">
            <a:avLst/>
          </a:prstGeom>
          <a:solidFill>
            <a:srgbClr val="9467BD">
              <a:alpha val="12000"/>
            </a:srgbClr>
          </a:solidFill>
          <a:ln w="12700">
            <a:solidFill>
              <a:srgbClr val="9467B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44768" y="194767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7BD"/>
                </a:solidFill>
              </a:rPr>
              <a:t>Amihud (22.1%)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44768" y="2212848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Illiquidity premium — dominant for InvIT; prior = −0.484 (only non-zero for InvIT)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6080760" y="2971800"/>
            <a:ext cx="2743200" cy="960120"/>
          </a:xfrm>
          <a:prstGeom prst="rect">
            <a:avLst/>
          </a:prstGeom>
          <a:solidFill>
            <a:srgbClr val="1E3A5F">
              <a:alpha val="12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44768" y="299923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Yield_Level_dm (14.7%)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44768" y="3264408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Competing-asset channel — rates above mean suppress yield-vehicle returns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384048" y="39319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SHAP top-4 features agree with Phase 2 significance indicators → Cross-phase consistency confirmed.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19 / 28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82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E86AB"/>
                </a:solidFill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377440" y="731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Phase 4B — Portfolio Optimisation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377440" y="2331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E86AB"/>
                </a:solidFill>
              </a:rPr>
              <a:t>8 Strategies  ·  EWMA Covariance  ·  MVO_Raw vs GK Ablation  ·  Paired Bootstrap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20 / 28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Phase 4B — Master Performance Comparison (27-Month OOS)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804672"/>
            <a:ext cx="5760720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0" y="822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Top Strategies: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17920" y="1115568"/>
            <a:ext cx="2606040" cy="804672"/>
          </a:xfrm>
          <a:prstGeom prst="rect">
            <a:avLst/>
          </a:prstGeom>
          <a:solidFill>
            <a:srgbClr val="B22222">
              <a:alpha val="12000"/>
            </a:srgbClr>
          </a:solidFill>
          <a:ln w="15240">
            <a:solidFill>
              <a:srgbClr val="B222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81928" y="114300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2222"/>
                </a:solidFill>
              </a:rPr>
              <a:t>MVO_Raw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81928" y="1371600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SR 1.868  |  Return 23.21%  |  Net SR 1.466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17920" y="1984248"/>
            <a:ext cx="2606040" cy="804672"/>
          </a:xfrm>
          <a:prstGeom prst="rect">
            <a:avLst/>
          </a:prstGeom>
          <a:solidFill>
            <a:srgbClr val="2E8B57">
              <a:alpha val="12000"/>
            </a:srgbClr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81928" y="201168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57"/>
                </a:solidFill>
              </a:rPr>
              <a:t>GMV_EWMA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81928" y="2240280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SR 1.488  |  Return 17.88%  |  Net SR 1.442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17920" y="2852928"/>
            <a:ext cx="2606040" cy="804672"/>
          </a:xfrm>
          <a:prstGeom prst="rect">
            <a:avLst/>
          </a:prstGeom>
          <a:solidFill>
            <a:srgbClr val="2E86AB">
              <a:alpha val="12000"/>
            </a:srgbClr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81928" y="288036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6AB"/>
                </a:solidFill>
              </a:rPr>
              <a:t>HRP_EWMA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81928" y="3108960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SR 1.431  |  Return 17.39%  |  Net SR 1.391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17920" y="3721608"/>
            <a:ext cx="2606040" cy="804672"/>
          </a:xfrm>
          <a:prstGeom prst="rect">
            <a:avLst/>
          </a:prstGeom>
          <a:solidFill>
            <a:srgbClr val="475569">
              <a:alpha val="12000"/>
            </a:srgbClr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374904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1/N (benchmark)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81928" y="3977640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SR 1.180  |  Return 17.50%  |  Net SR 1.180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4048" y="385876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p(MVO_Raw) = 0.010 (t-test) | Bootstrap P(beat 1/N) = 97.7% | Bonferroni: suggestive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21 / 28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Phase 4B — The Grinold-Kahn Ablation: A Methodological Finding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22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What differs between MVO_Raw and MVO_GK?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207008"/>
            <a:ext cx="4937760" cy="502920"/>
          </a:xfrm>
          <a:prstGeom prst="rect">
            <a:avLst/>
          </a:prstGeom>
          <a:solidFill>
            <a:srgbClr val="2E8B57">
              <a:alpha val="12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57"/>
                </a:solidFill>
              </a:rPr>
              <a:t>MVO_Raw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91640" y="1234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Raw ensemble prediction × 12 → optimiser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773936"/>
            <a:ext cx="4937760" cy="502920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01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</a:rPr>
              <a:t>MVO_GK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91640" y="1801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GK rescaling: μ_GK = RF + IC · σ · z → optimiser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340864"/>
            <a:ext cx="4937760" cy="502920"/>
          </a:xfrm>
          <a:prstGeom prst="rect">
            <a:avLst/>
          </a:prstGeom>
          <a:solidFill>
            <a:srgbClr val="475569">
              <a:alpha val="12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682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Difference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91640" y="23682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Same covariance · Same constraints · Same optimiser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7840" y="822960"/>
            <a:ext cx="3200400" cy="868680"/>
          </a:xfrm>
          <a:prstGeom prst="rect">
            <a:avLst/>
          </a:prstGeom>
          <a:solidFill>
            <a:srgbClr val="B22222">
              <a:alpha val="12000"/>
            </a:srgbClr>
          </a:solidFill>
          <a:ln w="19050">
            <a:solidFill>
              <a:srgbClr val="B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896112"/>
            <a:ext cx="3054096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22222"/>
                </a:solidFill>
              </a:rPr>
              <a:t>1.868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650992" y="1300734"/>
            <a:ext cx="3054096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MVO_Raw Gross Sharpe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77840" y="1764792"/>
            <a:ext cx="3200400" cy="868680"/>
          </a:xfrm>
          <a:prstGeom prst="rect">
            <a:avLst/>
          </a:prstGeom>
          <a:solidFill>
            <a:srgbClr val="F4A261">
              <a:alpha val="12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0992" y="1837944"/>
            <a:ext cx="3054096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</a:rPr>
              <a:t>1.196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650992" y="2242566"/>
            <a:ext cx="3054096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MVO_GK Gross Sharpe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77840" y="2706624"/>
            <a:ext cx="3200400" cy="1005840"/>
          </a:xfrm>
          <a:prstGeom prst="rect">
            <a:avLst/>
          </a:prstGeom>
          <a:solidFill>
            <a:srgbClr val="B22222">
              <a:alpha val="18000"/>
            </a:srgbClr>
          </a:solidFill>
          <a:ln w="19050">
            <a:solidFill>
              <a:srgbClr val="B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41848" y="2734056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22222"/>
                </a:solidFill>
              </a:rPr>
              <a:t>−0.672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641848" y="3218688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Gross Sharpe destroyed by GK rescaling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(at N=3, ensemble IC≈0.27)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3493008"/>
            <a:ext cx="8412480" cy="822960"/>
          </a:xfrm>
          <a:prstGeom prst="rect">
            <a:avLst/>
          </a:prstGeom>
          <a:solidFill>
            <a:srgbClr val="1E3A5F">
              <a:alpha val="1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20440"/>
            <a:ext cx="8275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Principle: GK regularises noisy signals toward RF — appropriate at large N / low IC. At small N + high IC, GK discards the level information the optimiser needs. Always run a no-GK baseline.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22 / 28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Phase 4B — Transaction Cost Sensitivity &amp; Bootstrap Robustness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804672"/>
            <a:ext cx="4663440" cy="26974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804672"/>
            <a:ext cx="3657600" cy="2697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4048" y="362102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Primary TC = 0.5% one-way → MVO_Raw net SR = 1.47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84048" y="39684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Break-even vs 1/N: TC = 0.90%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384048" y="43159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GMV/HRP: low turnover (&lt;6%) → robust to higher TC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84048" y="46634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MVO_GK: 44% monthly turnover → net SR = 0.93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23 / 28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82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E86AB"/>
                </a:solidFill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377440" y="731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Managerial Implications &amp; 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377440" y="2331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E86AB"/>
                </a:solidFill>
              </a:rPr>
              <a:t>Stakeholder Recommendations  ·  Contributions  ·  Limitations  ·  Future Research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24 / 28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Managerial Implications — Four Stakeholder Groups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822960"/>
            <a:ext cx="4160520" cy="1828800"/>
          </a:xfrm>
          <a:prstGeom prst="rect">
            <a:avLst/>
          </a:prstGeom>
          <a:solidFill>
            <a:srgbClr val="1E3A5F">
              <a:alpha val="1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961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🏦 Indian Institutional Managers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23444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</a:rPr>
              <a:t>Adopt MVO_Raw over 1/N for InvIT/REIT sleeve (Sharpe +0.69)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</a:rPr>
              <a:t>Audit GK preprocessing — destroys 0.67 Sharpe at high-IC settings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</a:rPr>
              <a:t>Reduce InvIT position when Amihud in top quintile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384048" y="2834640"/>
            <a:ext cx="4160520" cy="1828800"/>
          </a:xfrm>
          <a:prstGeom prst="rect">
            <a:avLst/>
          </a:prstGeom>
          <a:solidFill>
            <a:srgbClr val="2E86AB">
              <a:alpha val="1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9077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🌐 International Portfolio Managers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324612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</a:rPr>
              <a:t>Size India sleeve 3–8% of infra allocation (foreign corr. &lt; 0.04)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</a:rPr>
              <a:t>Apply 3-month NDF hedge for USD accounts (INR_USD β = −0.376)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</a:rPr>
              <a:t>Monitor FPI limit changes as integration signal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001768" y="822960"/>
            <a:ext cx="4160520" cy="1828800"/>
          </a:xfrm>
          <a:prstGeom prst="rect">
            <a:avLst/>
          </a:prstGeom>
          <a:solidFill>
            <a:srgbClr val="2E8B57">
              <a:alpha val="10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93208" y="8961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🏢 InvIT / REIT Sponsors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93208" y="123444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</a:rPr>
              <a:t>Time equity raises away from top-quartile yield regimes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</a:rPr>
              <a:t>Use &lt;0.34% spillover evidence in foreign IR materials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</a:rPr>
              <a:t>Yield spread management between distribution yield and 10Y bond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001768" y="2834640"/>
            <a:ext cx="4160520" cy="1828800"/>
          </a:xfrm>
          <a:prstGeom prst="rect">
            <a:avLst/>
          </a:prstGeom>
          <a:solidFill>
            <a:srgbClr val="9467BD">
              <a:alpha val="10000"/>
            </a:srgbClr>
          </a:solidFill>
          <a:ln w="12700">
            <a:solidFill>
              <a:srgbClr val="9467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29077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67BD"/>
                </a:solidFill>
              </a:rPr>
              <a:t>⚖ SEBI / Policy-Makers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93208" y="324612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</a:rPr>
              <a:t>Stagger FPI liberalisation: Stock first → InvIT last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</a:rPr>
              <a:t>Embed rolling Diebold-Yilmaz index in systemic-risk dashboards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</a:rPr>
              <a:t>Mandate daily liquidity disclosures (spread, Amihud)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25 / 28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Three Contributions to the Literature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841248"/>
            <a:ext cx="50292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41248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841248"/>
            <a:ext cx="7818120" cy="1143000"/>
          </a:xfrm>
          <a:prstGeom prst="rect">
            <a:avLst/>
          </a:prstGeom>
          <a:solidFill>
            <a:srgbClr val="1E3A5F">
              <a:alpha val="10000"/>
            </a:srgbClr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89611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Substantive Empirical Baseline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18872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First systematic econometric study of Indian InvIT and REIT market dynamics. Establishes: segmentation (&lt; 3% foreign spillover), three-tier factor structure, and monthly predictability — against which all future work can be calibrated.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84048" y="2121408"/>
            <a:ext cx="502920" cy="11430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121408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II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60120" y="2121408"/>
            <a:ext cx="7818120" cy="1143000"/>
          </a:xfrm>
          <a:prstGeom prst="rect">
            <a:avLst/>
          </a:prstGeom>
          <a:solidFill>
            <a:srgbClr val="2E86AB">
              <a:alpha val="10000"/>
            </a:srgbClr>
          </a:solidFill>
          <a:ln w="1016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17627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Hierarchical Bayesian Prior Design for Small-T Panels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46888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Encoding per-category Phase 2 OLS coefficients as hierarchical priors in a BayesRidge panel model with LOOCV-selected blend weight. Template transferable to any nascent asset class with a related longer-history prior source (Thai REITs, Mexican energy infrastructure, Indonesian infrastructure bonds).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84048" y="3401568"/>
            <a:ext cx="502920" cy="1143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401568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III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60120" y="3401568"/>
            <a:ext cx="7818120" cy="1143000"/>
          </a:xfrm>
          <a:prstGeom prst="rect">
            <a:avLst/>
          </a:prstGeom>
          <a:solidFill>
            <a:srgbClr val="2E8B57">
              <a:alpha val="10000"/>
            </a:srgbClr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4564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</a:rPr>
              <a:t>No-GK Ablation — Internally Controlled Counterfactual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74904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First published comparison of Grinold-Kahn rescaling against a raw-signal baseline in a real portfolio backtest at small N, high IC. −0.67 gross Sharpe attributable entirely to GK. General principle: GK harms at small N + high IC.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26 / 28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Limitations &amp; Avenues for Future Research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31520"/>
            <a:ext cx="8412480" cy="228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2222"/>
                </a:solidFill>
              </a:rPr>
              <a:t>Key Limitations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18872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27-month OOS window — bootstrap 95% CI ≈ [0.44, 3.48]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N = 3 assets — findings specific to small-N regime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India 10Y yield is I(1) — near-unit-root caveat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DCC parameters fixed (a=0.01, b=0.95) — not QMLE-estimated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0.5% TC assumption — break-even at 0.90%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Future Research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Extend OOS to 60 months (through 2028) for tighter inference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Two-step QMLE for DCC parameter estimation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TVP-VAR connectedness (Antonakakis et al. 2021 framework)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Intra-daily HAR-RV on the three most liquid InvITs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Event-study: SEBI FPI liberalisation impact on spillover index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Cross-sectional InvIT pricing (ticker-level, not category)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Bayesian neural network priors vs BayesRidge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27 / 28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261"/>
                </a:solidFill>
              </a:rPr>
              <a:t>Five Principal Findings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AB"/>
                </a:solidFill>
              </a:rPr>
              <a:t>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Strong Segmentation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7280" y="10789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8D8"/>
                </a:solidFill>
              </a:rPr>
              <a:t>InvIT 0.34% · REIT 1.28% · Stock 2.49% foreign spillover — 10× below developed-market REITs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Three-Tier Factor Structure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8D8"/>
                </a:solidFill>
              </a:rPr>
              <a:t>Stock R²=67.8%  REIT R²=6.5%  InvIT R²=8.1%  |  Nifty β gap InvIT vs Stock = −1.20***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C8C8"/>
                </a:solidFill>
              </a:rPr>
              <a:t>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BayesRidge Predictability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97280" y="26334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8D8"/>
                </a:solidFill>
              </a:rPr>
              <a:t>Panel IC = +0.254 (2.5× GK threshold)  |  GKX R² = +12.09%  |  LOOCV λ = 0.207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15468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</a:rPr>
              <a:t>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MVO_Raw Portfolio Value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97280" y="34107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8D8"/>
                </a:solidFill>
              </a:rPr>
              <a:t>Gross SR = 1.87 (p=0.010)  |  Net SR = 1.47 at 0.5% TC  |  Bootstrap P = 97.7%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2222"/>
                </a:solidFill>
              </a:rPr>
              <a:t>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GK Ablation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97280" y="41879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8D8"/>
                </a:solidFill>
              </a:rPr>
              <a:t>−0.67 gross Sharpe attributable to GK rescaling at N=3, IC&gt;0.25 — GK is detrimental in this regime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663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4A261"/>
                </a:solidFill>
              </a:rPr>
              <a:t>Indian InvITs and REITs — a ₹1.5 lakh crore asset class — now has its first systematic empirical baseline.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28 / 28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InvIT &amp; REIT Market Segmentation — MTP2</dc:title>
  <dc:subject>PptxGenJS Presentation</dc:subject>
  <dc:creator>PptxGenJS</dc:creator>
  <cp:lastModifiedBy>PptxGenJS</cp:lastModifiedBy>
  <cp:revision>1</cp:revision>
  <dcterms:created xsi:type="dcterms:W3CDTF">2026-04-24T14:05:13Z</dcterms:created>
  <dcterms:modified xsi:type="dcterms:W3CDTF">2026-04-24T14:05:13Z</dcterms:modified>
</cp:coreProperties>
</file>